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920240" cy="548640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84048"/>
            <a:ext cx="5943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L'Architecte Invisible de l'Influence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621792"/>
            <a:ext cx="59436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Stratégie · Branding · Web · Solutions IA — Zone CEMAC (Simbock, Yaoundé)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50" b="1">
                <a:solidFill>
                  <a:srgbClr val="CBD5E1"/>
                </a:solidFill>
                <a:latin typeface="Arial"/>
              </a:rPr>
              <a:t>PITCH EXÉCUTIF &amp; AUDIT VISUEL
Réf : ONO-ECOPARK-2026-10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4480560" cy="347472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524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9576"/>
            <a:ext cx="4480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ACCOMPAGNEMENT STRATÉGIQUE « ECOPARK NEW LOOK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AUDIT DIGITAL BASÉ SUR PREUVES &amp;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500" b="1">
                <a:solidFill>
                  <a:srgbClr val="E7C02F"/>
                </a:solidFill>
                <a:latin typeface="Arial"/>
              </a:rPr>
              <a:t>OFFRE DE TRANSFORMATION 360° POUR ECOPARK YAOUNDÉ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rial"/>
              </a:rPr>
              <a:t>Diagnostic complet de ecopark-yaounde.com (captures d'écran réelles à l'appui) et plan d'action Web, Billetterie Mobile Money, Branding, Contenus Viraux &amp; Concierge IA WhatsApp pour propulser le complexe d'Ahala.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01568"/>
            <a:ext cx="3474720" cy="269748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87568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E7C02F"/>
                </a:solidFill>
                <a:latin typeface="Arial"/>
              </a:rPr>
              <a:t>ONOGRAPH SARL — Agence 360° &amp; IA (onograph.online)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401568"/>
            <a:ext cx="3474720" cy="269748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home_hero_localhost_count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543246"/>
            <a:ext cx="3291840" cy="20483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97680" y="5687568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>
                <a:solidFill>
                  <a:srgbClr val="FB7185"/>
                </a:solidFill>
                <a:latin typeface="Arial"/>
              </a:rPr>
              <a:t>ECOPARK YAOUNDÉ — Site Audité (ecopark-yaounde.com)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401568"/>
            <a:ext cx="3776472" cy="269748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520440"/>
            <a:ext cx="34747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E7C02F"/>
                </a:solidFill>
                <a:latin typeface="Arial"/>
              </a:rPr>
              <a:t>DESTINATAIRES (DIRECTION ECOPARK)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840480"/>
            <a:ext cx="3474720" cy="12344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80">
                <a:solidFill>
                  <a:srgbClr val="FFFFFF"/>
                </a:solidFill>
                <a:latin typeface="Arial"/>
              </a:rPr>
              <a:t>• Dr Christophe FOE NDI </a:t>
            </a:r>
            <a:r>
              <a:rPr b="0" sz="980">
                <a:solidFill>
                  <a:srgbClr val="FFFFFF"/>
                </a:solidFill>
                <a:latin typeface="Arial"/>
              </a:rPr>
              <a:t>— Promoteur d'ECOPARK Yaoundé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FFFFFF"/>
                </a:solidFill>
                <a:latin typeface="Arial"/>
              </a:rPr>
              <a:t>• M. Mgbatou Daryl </a:t>
            </a:r>
            <a:r>
              <a:rPr b="0" sz="980">
                <a:solidFill>
                  <a:srgbClr val="FFFFFF"/>
                </a:solidFill>
                <a:latin typeface="Arial"/>
              </a:rPr>
              <a:t>— Gérant Délégué (« ECOPARK NEW LOOK »)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FFFFFF"/>
                </a:solidFill>
                <a:latin typeface="Arial"/>
              </a:rPr>
              <a:t>• Site : </a:t>
            </a:r>
            <a:r>
              <a:rPr b="0" sz="980">
                <a:solidFill>
                  <a:srgbClr val="FFFFFF"/>
                </a:solidFill>
                <a:latin typeface="Arial"/>
              </a:rPr>
              <a:t>Ahala Barrière (Face Tradex), Yaoundé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4983480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E7C02F"/>
                </a:solidFill>
                <a:latin typeface="Arial"/>
              </a:rPr>
              <a:t>ÉMETTEUR (AGENCE ONOGRAPH SARL)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5257800"/>
            <a:ext cx="3474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Arial"/>
              </a:rPr>
              <a:t>Chapelle Simbock, Yaoundé
Tél : +237 6 70 72 80 87 / +237 6 92 68 37 58
Email : info@onograph.online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rial"/>
              </a:rPr>
              <a:t>Document Stratégique Confidentiel — Préparé par ONOGRAPH SARL pour la Direction d'ECOPARK Yaoundé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47104"/>
            <a:ext cx="20116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E7C02F"/>
                </a:solidFill>
                <a:latin typeface="Arial"/>
              </a:rPr>
              <a:t>Slide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1. LA VISION « ECOPARK NEW LOOK » VS LA RÉALITÉ DIGITALE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 • L'ALIGNEMENT STRATÉGIQUE AVEC LA NOUVELLE GOUVERNANCE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2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024128"/>
            <a:ext cx="10881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D5C3A"/>
                </a:solidFill>
                <a:latin typeface="Arial"/>
              </a:rPr>
              <a:t>LE CAP FIXÉ LE 16 SEPTEMBRE 2026 À AHALA BARRIÈRE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316736"/>
            <a:ext cx="108813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rial"/>
              </a:rPr>
              <a:t>Lors de l'installation officielle de la nouvelle équipe dirigeante pilotée par M. Mgbatou Daryl, le Promoteur Dr Christophe Foé Ndi a assigné une feuille de route claire reposant sur 4 piliers de croissance 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11680"/>
            <a:ext cx="2706624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011680"/>
            <a:ext cx="2706624" cy="384048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66543"/>
            <a:ext cx="252374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7C02F"/>
                </a:solidFill>
                <a:latin typeface="Arial"/>
              </a:rPr>
              <a:t>OBJECTIF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487168"/>
            <a:ext cx="2487168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rial"/>
              </a:rPr>
              <a:t>Communication Dynamique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07792"/>
            <a:ext cx="248716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Moderniser l'image d'ECOPARK sur le web et les réseaux sociaux avec une prise de parole professionnelle et continue.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2011680"/>
            <a:ext cx="2706624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0128" y="2011680"/>
            <a:ext cx="2706624" cy="384048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2066543"/>
            <a:ext cx="252374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7C02F"/>
                </a:solidFill>
                <a:latin typeface="Arial"/>
              </a:rPr>
              <a:t>OBJECTIF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2487168"/>
            <a:ext cx="2487168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rial"/>
              </a:rPr>
              <a:t>Visibilité Maximale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2907792"/>
            <a:ext cx="248716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Faire connaître les 15 activités, les 3 hôtels (Ewondo, Chanthel, Bene), le Château des Saveurs et le CFP dans tout Yaoundé.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2011680"/>
            <a:ext cx="2706624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2011680"/>
            <a:ext cx="2706624" cy="384048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066543"/>
            <a:ext cx="252374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7C02F"/>
                </a:solidFill>
                <a:latin typeface="Arial"/>
              </a:rPr>
              <a:t>OBJECTIF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487168"/>
            <a:ext cx="2487168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rial"/>
              </a:rPr>
              <a:t>Fidélisation Visiteurs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2907792"/>
            <a:ext cx="248716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Transformer chaque visiteur du week-end, famille, école ou entreprise en client régulier via des offres et packs clairs.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15984" y="2011680"/>
            <a:ext cx="2706624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15984" y="2011680"/>
            <a:ext cx="2706624" cy="384048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2066543"/>
            <a:ext cx="2523744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7C02F"/>
                </a:solidFill>
                <a:latin typeface="Arial"/>
              </a:rPr>
              <a:t>OBJECTIF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1" y="2487168"/>
            <a:ext cx="2487168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rial"/>
              </a:rPr>
              <a:t>Hausse de Fréquentation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1" y="2907792"/>
            <a:ext cx="2487168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Augmenter directement le flux de visiteurs payants, les réservations d'hôtels/séminaires et les inscriptions au CFP.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389120"/>
            <a:ext cx="11274552" cy="1874519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254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E7C02F"/>
                </a:solidFill>
                <a:latin typeface="Arial"/>
              </a:rPr>
              <a:t>LA QUESTION DÉCISIVE : VOTRE SITE WEB ACTUEL EST-IL UN MOTEUR OU UN FREIN 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56048"/>
            <a:ext cx="10698480" cy="11887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• Un joyau réel sous-exploité : </a:t>
            </a:r>
            <a:r>
              <a:rPr b="0" sz="1050">
                <a:solidFill>
                  <a:srgbClr val="FFFFFF"/>
                </a:solidFill>
                <a:latin typeface="Arial"/>
              </a:rPr>
              <a:t>ECOPARK dispose d'atouts uniques à Yaoundé (Zoo avec le gorille ToTo, Piscine moderne, Lacs &amp; Pirogue, Cheval, 3 Hôtels, Salle Menkii Essomba Anton, CFP agréé).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• Mais une vitrine digitale défaillante : </a:t>
            </a:r>
            <a:r>
              <a:rPr b="0" sz="1050">
                <a:solidFill>
                  <a:srgbClr val="FFFFFF"/>
                </a:solidFill>
                <a:latin typeface="Arial"/>
              </a:rPr>
              <a:t>Notre audit technique révèle que plus de 60 % des pages du site officiel ecopark-yaounde.com sont vides, que les tarifs sont invisibles et que la page Restaurant affiche un faux café américain en dollars ($4.50).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Arial"/>
              </a:rPr>
              <a:t>• La mission d'ONOGRAPH : </a:t>
            </a:r>
            <a:r>
              <a:rPr b="0" sz="1050">
                <a:solidFill>
                  <a:srgbClr val="FFFFFF"/>
                </a:solidFill>
                <a:latin typeface="Arial"/>
              </a:rPr>
              <a:t>Réparer immédiatement ces anomalies et déployer l'écosystème digital et IA à la hauteur d'ECOPARK NEW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2. L'ÉLECTROCHOC DE L'AUDIT : 4 CHIFFRES QUI BLOQUENT VOS VENTES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LE DIAGNOSTIC SANS FILTRE DE ECOPARK-YAOUNDE.COM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E7C02F"/>
                </a:solidFill>
                <a:latin typeface="Arial"/>
              </a:rPr>
              <a:t>Slide 3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97280"/>
            <a:ext cx="2706624" cy="333756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25880"/>
            <a:ext cx="2523744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E11D48"/>
                </a:solidFill>
                <a:latin typeface="Arial"/>
              </a:rPr>
              <a:t>&gt; 60 %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240280"/>
            <a:ext cx="2487168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DE PAGES VIDES DANS LE 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2432304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rial"/>
              </a:rPr>
              <a:t>21+ pages stratégiques (/pack-entreprise/, /pack-ecole/, /notre-histoire/, /formation/, /hotellerie/) ne contiennent qu'un bloc HTML vide.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1097280"/>
            <a:ext cx="2706624" cy="333756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254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325880"/>
            <a:ext cx="2523744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E7C02F"/>
                </a:solidFill>
                <a:latin typeface="Arial"/>
              </a:rPr>
              <a:t>0 FCFA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240280"/>
            <a:ext cx="2487168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VISIBLE SUR LA PAGE TARIFS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834640"/>
            <a:ext cx="2432304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rial"/>
              </a:rPr>
              <a:t>La page /nos-tarifs/ charge une balise &lt;img class='wp-image-987'&gt; sans attribut src : la page est blanche et les clients réclament les prix en commentaire.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097280"/>
            <a:ext cx="2706624" cy="333756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325880"/>
            <a:ext cx="2523744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E11D48"/>
                </a:solidFill>
                <a:latin typeface="Arial"/>
              </a:rPr>
              <a:t>$4.50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240280"/>
            <a:ext cx="2487168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EN ANGLAIS AU RESTAURANT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834640"/>
            <a:ext cx="2432304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rial"/>
              </a:rPr>
              <a:t>La page /restaurant/ affiche un template américain non nettoyé (« Velvet Flat White $4.50 », « Butter Croissant $3.80 », « 5th and Main »).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1097280"/>
            <a:ext cx="2706624" cy="333756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254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1325880"/>
            <a:ext cx="2523744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E7C02F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1" y="2240280"/>
            <a:ext cx="2487168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BILLETTERIE MOBILE 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834640"/>
            <a:ext cx="2432304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rial"/>
              </a:rPr>
              <a:t>Aucun achat de billet, réservation d'hôtel ou paiement d'inscription CFP par MTN MoMo / Orange Money. 5 numéros dispersés sans guichet unique.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63440"/>
            <a:ext cx="11274552" cy="1627632"/>
          </a:xfrm>
          <a:prstGeom prst="roundRect">
            <a:avLst>
              <a:gd name="adj" fmla="val 4000"/>
            </a:avLst>
          </a:prstGeom>
          <a:solidFill>
            <a:srgbClr val="282C35"/>
          </a:solidFill>
          <a:ln w="1524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E7C02F"/>
                </a:solidFill>
                <a:latin typeface="Arial"/>
              </a:rPr>
              <a:t>SYNTHÈSE TECHNIQUE DE L'AUDIT LIVE (OCTOBRE 2026 — 35 URLS INSPECTÉES)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02352"/>
            <a:ext cx="1078992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FFFFFF"/>
                </a:solidFill>
                <a:latin typeface="Arial"/>
              </a:rPr>
              <a:t>• SEO &amp; Accueil : </a:t>
            </a:r>
            <a:r>
              <a:rPr b="0" sz="1000">
                <a:solidFill>
                  <a:srgbClr val="FFFFFF"/>
                </a:solidFill>
                <a:latin typeface="Arial"/>
              </a:rPr>
              <a:t>Balise &lt;title&gt;-&lt;/title&gt; réduite à un simple tiret, lien principal pointant vers http://localhost/ecopark/# et compteur bloqué à 00:00:00:00.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FFFFFF"/>
                </a:solidFill>
                <a:latin typeface="Arial"/>
              </a:rPr>
              <a:t>• Crédibilité Institutionnelle : </a:t>
            </a:r>
            <a:r>
              <a:rPr b="0" sz="1000">
                <a:solidFill>
                  <a:srgbClr val="FFFFFF"/>
                </a:solidFill>
                <a:latin typeface="Arial"/>
              </a:rPr>
              <a:t>Fautes d'orthographe sur l'affiche officielle du CFP (« Centre de Fomation », « Agropostale ») et texte « Saisissez ici votre paragraphe » oublié dans l'article du 18/09/2026.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FFFFFF"/>
                </a:solidFill>
                <a:latin typeface="Arial"/>
              </a:rPr>
              <a:t>• Perte Directe de Chiffre d'Affaires : </a:t>
            </a:r>
            <a:r>
              <a:rPr b="0" sz="1000">
                <a:solidFill>
                  <a:srgbClr val="FFFFFF"/>
                </a:solidFill>
                <a:latin typeface="Arial"/>
              </a:rPr>
              <a:t>Les entreprises, écoles et familles qui cherchent les tarifs ou les packs quittent le site sans pouvoir réserver ni payer.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3. PREUVE #1 : LIEN LOCALHOST, COMPTEUR EXPIRÉ &amp; COQUILLES AFFICHE CFP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PREUVES VISUELLES #1 À #3 (PAGE D'ACCUEIL)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4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54864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548640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0584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CAPTURE #1 : LIEN « LOCALHOST » &amp; TITRE &lt;TITLE&gt;-&lt;/TITLE&gt;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417320"/>
            <a:ext cx="52120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_home_hero_localhost_count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4" y="1417320"/>
            <a:ext cx="5143231" cy="3200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45352" y="960120"/>
            <a:ext cx="54864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60120"/>
            <a:ext cx="548640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00584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CAPTURE #2 : COMPTEUR À 00:00 &amp; FAUTES (« FOMATION », « AGROPOSTALE »)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417320"/>
            <a:ext cx="521208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3_home_poster_ty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936" y="1417320"/>
            <a:ext cx="5143231" cy="32004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4892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56048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  <a:latin typeface="Arial"/>
              </a:rPr>
              <a:t>1. CONSTAT TECHNIQUE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12080"/>
            <a:ext cx="33832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L'accroche Hero pointe vers http://localhost/ecopark/#. Le compteur affiche « 50,000+ Utilisateurs Actifs » et l'affiche CFP écrit « Centre de Fomation » et « Agropostale ».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892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FEFCE8"/>
          </a:solidFill>
          <a:ln w="1524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8264" y="4956048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</a:rPr>
              <a:t>2. IMPACT BUSINESS SUR ECOPARK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5212080"/>
            <a:ext cx="33832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Tout clic sur le sous-titre génère une erreur. Google référence le site sous un simple tiret « - » et les deux fautes dans le titre de l'affiche CFP nuisent à la crédibilité des diplômes d'État.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4892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524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4956048"/>
            <a:ext cx="338328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0D5C3A"/>
                </a:solidFill>
                <a:latin typeface="Arial"/>
              </a:rPr>
              <a:t>3. REMÉDIATION ONOGRAPH (48H)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5212080"/>
            <a:ext cx="33832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Correction immédiate des liens et du SEO (Title, Schema.org), suppression du compteur expiré et livraison d'une nouvelle affiche officielle CFP haute définition zéro coquille.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4. PREUVE #2 : PLUS DE 21 PAGES DU MENU PRINCIPAL SONT TOTALEMENT 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PREUVE VISUELLE #4 (HÉMORRAGIE B2B, ÉCOLES &amp; FAMILLES)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5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Arial"/>
              </a:rPr>
              <a:t>CAPTURE /PACK-ENTREPRISE/ : PAGE 100 % VIDE (BLOC HTML VIDE)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389888"/>
            <a:ext cx="5212080" cy="2999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b_empty_page_pack_entre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28" y="1389888"/>
            <a:ext cx="4819942" cy="299923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45352" y="96012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60120"/>
            <a:ext cx="54864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Arial"/>
              </a:rPr>
              <a:t>CAPTURE /NOTRE-HISTOIRE/ : PAGE 100 % VIDE (AUCUN TEXTE)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389888"/>
            <a:ext cx="5212080" cy="299923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4_empty_page_notre_histo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80" y="1389888"/>
            <a:ext cx="4819942" cy="29992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4590288"/>
            <a:ext cx="1127455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626864"/>
            <a:ext cx="1097280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80" b="1">
                <a:solidFill>
                  <a:srgbClr val="E11D48"/>
                </a:solidFill>
                <a:latin typeface="Arial"/>
              </a:rPr>
              <a:t>LISTE DES 21+ URLS VIDES VÉRIFIÉES : /notre-histoire/ · /notre-mission/ · /nature-biodiversite/ · /patrimoine-culture/ · /nos-engagements/ · /agenda/ · /programme-du-mois/ · /programme-du-week-end/ · /offres-promotions/ · /club-ecopark/ · /pack-couple/ · /pack-ecole/ · /pack-enfant/ · /pack-entreprise/ · /pack-sejour/ · /formation/ · /filieres/ · /agropastoral/ · /hotellerie/ · /pisciculture/ · /transport/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49240"/>
            <a:ext cx="5486400" cy="100584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413248"/>
            <a:ext cx="516636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IMPACT COMMERCIAL CRITIQUE : Lorsqu'un DRH d'entreprise, un directeur d'école ou un ministère clique sur « Pack Entreprise » ou « Pack École » pour organiser un séminaire ou une excursion à Ahala, il tombe sur une page blanche et abandonne.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5349240"/>
            <a:ext cx="5486400" cy="100584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413248"/>
            <a:ext cx="516636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SOLUTION ONOGRAPH : Rédaction persuasive SEO et habillage visuel des 21 pages, création des fiches détaillées des 7 Packs avec grille tarifaire FCFA, photos réelles et bouton « Réserver / Demander un devis instantané sur WhatsApp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5. PREUVE #3 : UN FAUX CAFÉ AMÉRICAIN EN DOLLARS ($4.50) SUR /RESTAURANT/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PREUVE VISUELLE #5 (CHÂTEAU DES SAVEURS)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6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6583680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6583680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05840"/>
            <a:ext cx="6309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CAPTURE LIVE DE HTTPS://ECOPARK-YAOUNDE.COM/RESTAURANT/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1444752"/>
            <a:ext cx="6254496" cy="4709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_restaurant_english_us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53387"/>
            <a:ext cx="6254496" cy="389188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223760" y="960120"/>
            <a:ext cx="4507992" cy="169164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1051560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E11D48"/>
                </a:solidFill>
                <a:latin typeface="Arial"/>
              </a:rPr>
              <a:t>1. CE QUE VOIT LE VISITEUR ACTUELLEMENT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1353312"/>
            <a:ext cx="4206240" cy="12344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Textes en anglais : </a:t>
            </a:r>
            <a:r>
              <a:rPr b="0" sz="930">
                <a:solidFill>
                  <a:srgbClr val="0F172A"/>
                </a:solidFill>
                <a:latin typeface="Arial"/>
              </a:rPr>
              <a:t>« Small-batch roasts, every day », « House favorites ».</a:t>
            </a:r>
          </a:p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Prix en Dollars US : </a:t>
            </a:r>
            <a:r>
              <a:rPr b="0" sz="930">
                <a:solidFill>
                  <a:srgbClr val="0F172A"/>
                </a:solidFill>
                <a:latin typeface="Arial"/>
              </a:rPr>
              <a:t>« Velvet Flat White $4.50 », « Butter Croissant $3.80 », « Berry Parfait $5.20 ».</a:t>
            </a:r>
          </a:p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Faux avis &amp; fausse adresse : </a:t>
            </a:r>
            <a:r>
              <a:rPr b="0" sz="930">
                <a:solidFill>
                  <a:srgbClr val="0F172A"/>
                </a:solidFill>
                <a:latin typeface="Arial"/>
              </a:rPr>
              <a:t>Témoignage fictif de « Maya R. » et adresse « 5th and Main » à New York/Seattle 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788920"/>
            <a:ext cx="4507992" cy="1554480"/>
          </a:xfrm>
          <a:prstGeom prst="roundRect">
            <a:avLst>
              <a:gd name="adj" fmla="val 4000"/>
            </a:avLst>
          </a:prstGeom>
          <a:solidFill>
            <a:srgbClr val="FEFCE8"/>
          </a:solidFill>
          <a:ln w="1524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2880360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Arial"/>
              </a:rPr>
              <a:t>2. POURQUOI C'EST UN FREIN MAJEUR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3200400"/>
            <a:ext cx="42062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0F172A"/>
                </a:solidFill>
                <a:latin typeface="Arial"/>
              </a:rPr>
              <a:t>Le restaurant « Le Château des Saveurs » et ses pergolas au bord de l'eau sont au cœur de l'expérience gastronomique d'ECOPARK. Afficher le menu d'un coffee-shop américain en dollars détruit la confiance des clients et organisateurs de banquets.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480560"/>
            <a:ext cx="4507992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524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4572000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0D5C3A"/>
                </a:solidFill>
                <a:latin typeface="Arial"/>
              </a:rPr>
              <a:t>3. TRANSFORMATION ONOGRAPH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864608"/>
            <a:ext cx="4206240" cy="1371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Suppression immédiate </a:t>
            </a:r>
            <a:r>
              <a:rPr b="0" sz="930">
                <a:solidFill>
                  <a:srgbClr val="0F172A"/>
                </a:solidFill>
                <a:latin typeface="Arial"/>
              </a:rPr>
              <a:t>du bloc anglophone en dollars dès J+1.</a:t>
            </a:r>
          </a:p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Carte Digitale Illustrée en FCFA : </a:t>
            </a:r>
            <a:r>
              <a:rPr b="0" sz="930">
                <a:solidFill>
                  <a:srgbClr val="0F172A"/>
                </a:solidFill>
                <a:latin typeface="Arial"/>
              </a:rPr>
              <a:t>Spécialités camerounaises, poisson frais braisé, grillades, buffets groupes et boissons.</a:t>
            </a:r>
          </a:p>
          <a:p>
            <a:pPr>
              <a:spcAft>
                <a:spcPts val="500"/>
              </a:spcAft>
            </a:pPr>
            <a:r>
              <a:rPr b="1" sz="930">
                <a:solidFill>
                  <a:srgbClr val="0F172A"/>
                </a:solidFill>
                <a:latin typeface="Arial"/>
              </a:rPr>
              <a:t>• Réservation de Table / Pergola : </a:t>
            </a:r>
            <a:r>
              <a:rPr b="0" sz="930">
                <a:solidFill>
                  <a:srgbClr val="0F172A"/>
                </a:solidFill>
                <a:latin typeface="Arial"/>
              </a:rPr>
              <a:t>Module de réservation directe en ligne ou via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6. PREUVE #4 : PAGE TARIFS CASSÉE &amp; CLIENTS RÉCLAMANT LES PRIX EN COMMENTAIRE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PREUVES VISUELLES #6 &amp; #7 (LA PREUVE PAR LE CLIENT)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7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CAPTURE /NOS-TARIFS/ : BALISE &lt;IMG&gt; SANS ATTRIBUT SRC (PAGE BLANCHE)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389888"/>
            <a:ext cx="521208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nos_tarifs_br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1" y="1389888"/>
            <a:ext cx="5069756" cy="3154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45352" y="9601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60120"/>
            <a:ext cx="5486400" cy="365760"/>
          </a:xfrm>
          <a:prstGeom prst="rect">
            <a:avLst/>
          </a:prstGeom>
          <a:solidFill>
            <a:srgbClr val="5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E7C02F"/>
                </a:solidFill>
                <a:latin typeface="Arial"/>
              </a:rPr>
              <a:t>CAPTURE /CONTACT/ : UNE CLIENTE RÉCLAME LES PRIX EN COMMENTAIRE 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389888"/>
            <a:ext cx="521208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7_contact_public_comments_tari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673" y="1389888"/>
            <a:ext cx="5069756" cy="31546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4800600"/>
            <a:ext cx="11274552" cy="1536192"/>
          </a:xfrm>
          <a:prstGeom prst="roundRect">
            <a:avLst>
              <a:gd name="adj" fmla="val 4000"/>
            </a:avLst>
          </a:prstGeom>
          <a:solidFill>
            <a:srgbClr val="282C35"/>
          </a:solidFill>
          <a:ln w="1905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E7C02F"/>
                </a:solidFill>
                <a:latin typeface="Arial"/>
              </a:rPr>
              <a:t>POURQUOI CETTE CAPTURE EST LA PREUVE LA PLUS IMPORTANTE DE L'AUDIT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1078992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80">
                <a:solidFill>
                  <a:srgbClr val="FFFFFF"/>
                </a:solidFill>
                <a:latin typeface="Arial"/>
              </a:rPr>
              <a:t>• La preuve d'une demande réelle : </a:t>
            </a:r>
            <a:r>
              <a:rPr b="0" sz="980">
                <a:solidFill>
                  <a:srgbClr val="FFFFFF"/>
                </a:solidFill>
                <a:latin typeface="Arial"/>
              </a:rPr>
              <a:t>Mme Charlotte Manuella a écrit publiquement sur la page Contact : « Svp les tarifs pour un pique nique se relève à combien ? Et l'entrée aussi », obligeant l'administrateur (Transistor) à coller toute la grille tarifaire dans un commentaire !</a:t>
            </a:r>
          </a:p>
          <a:p>
            <a:pPr>
              <a:spcAft>
                <a:spcPts val="500"/>
              </a:spcAft>
            </a:pPr>
            <a:r>
              <a:rPr b="1" sz="980">
                <a:solidFill>
                  <a:srgbClr val="FFFFFF"/>
                </a:solidFill>
                <a:latin typeface="Arial"/>
              </a:rPr>
              <a:t>• Pour 1 cliente qui écrit, 50 repartent en silence : </a:t>
            </a:r>
            <a:r>
              <a:rPr b="0" sz="980">
                <a:solidFill>
                  <a:srgbClr val="FFFFFF"/>
                </a:solidFill>
                <a:latin typeface="Arial"/>
              </a:rPr>
              <a:t>Avec ONOGRAPH, la page /nos-tarifs/ devient une grille interactive claire couplée à un Calculateur de Budget Famille/Groupe et au Concierge IA WhatsApp qui répond en 3 secondes 24h/24.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7. PREUVE #5 : OUBLI D'ÉDITION DANS L'ARTICLE OFFICIEL &amp; FORMULAIRE CFP DÉFECTUEUX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 • PREUVES VISUELLES #8 &amp; #9 (ÉDITORIAL &amp; TUNNEL CFP)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8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ARTICLE DU 18/09/2026 : « SAISISSEZ ICI VOTRE PARAGRAPHE » OUBLIÉ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389888"/>
            <a:ext cx="521208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_article_new_look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21" y="1389888"/>
            <a:ext cx="5069756" cy="3154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45352" y="960120"/>
            <a:ext cx="54864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960120"/>
            <a:ext cx="54864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0058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FORMULAIRE /PREINSCRIPTION/ : LIBELLÉ CASSÉ, « AGROPATORAL » &amp; « SUBMIT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389888"/>
            <a:ext cx="521208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9_preinscription_form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673" y="1389888"/>
            <a:ext cx="5069756" cy="31546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4800600"/>
            <a:ext cx="5486400" cy="150876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864608"/>
            <a:ext cx="51663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  <a:latin typeface="Arial"/>
              </a:rPr>
              <a:t>CONSTAT SUR L'ARTICLE « ECOPARK NEW LOOK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138928"/>
            <a:ext cx="51663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L'article le plus stratégique de la nouvelle direction contient en plein milieu le texte par défaut de WordPress « Saisissez ici votre paragraphe » et est signé du compte technique « Transistor ». Les commentaires d'articles sont laissés ouverts partout.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800600"/>
            <a:ext cx="5486400" cy="15087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64608"/>
            <a:ext cx="51663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0D5C3A"/>
                </a:solidFill>
                <a:latin typeface="Arial"/>
              </a:rPr>
              <a:t>REFONTE DU TUNNEL D'INSCRIPTION CFP PAR ONOGRAPH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38928"/>
            <a:ext cx="51663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19" b="0">
                <a:solidFill>
                  <a:srgbClr val="0F172A"/>
                </a:solidFill>
                <a:latin typeface="Arial"/>
              </a:rPr>
              <a:t>Correction des libellés (« Filière souhaitée », « Agropastorale »), présentation complète des 5 filières DQP/CQP, paiement en ligne des frais d'inscription (50 000 FCFA) par MTN MoMo / Orange Money et génération automatique du récépissé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8. NOTRE RÉPONSE STRATÉGIQUE : L'OFFRE 360° ONOGRAPH × ECOPARK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III • LA SOLUTION CLÉ EN MAIN ONOGRAPH SARL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9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87552"/>
            <a:ext cx="5486400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87552"/>
            <a:ext cx="5486400" cy="384048"/>
          </a:xfrm>
          <a:prstGeom prst="rect">
            <a:avLst/>
          </a:prstGeom>
          <a:solidFill>
            <a:srgbClr val="0D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042416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PILIER 1 • REFONTE WEB &amp; BILLETTERIE MOMO / 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042416"/>
            <a:ext cx="1325880" cy="25603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060704"/>
            <a:ext cx="1325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Arial"/>
              </a:rPr>
              <a:t>PÔLE WEB &amp;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426464"/>
            <a:ext cx="5257800" cy="2057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Zéro Page Vide &amp; Zéro Bug : </a:t>
            </a:r>
            <a:r>
              <a:rPr b="0" sz="900">
                <a:solidFill>
                  <a:srgbClr val="0F172A"/>
                </a:solidFill>
                <a:latin typeface="Arial"/>
              </a:rPr>
              <a:t>Rédaction complète des 21 pages vides, suppression du café US sur /restaurant/, réparation de /nos-tarifs/ et vitesse &lt; 2s sur mobile.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Billetterie &amp; Booking Mobile Money : </a:t>
            </a:r>
            <a:r>
              <a:rPr b="0" sz="900">
                <a:solidFill>
                  <a:srgbClr val="0F172A"/>
                </a:solidFill>
                <a:latin typeface="Arial"/>
              </a:rPr>
              <a:t>Achat en ligne des Pass activités (Zoo, Piscine, Pirogue, Cheval), réservation des 3 Hôtels (Ewondo, Chanthel, Bene), commande des 7 Packs et inscription CFP via MTN MoMo &amp; Orange Money + QR Code WhatsApp.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SEO Local Yaoundé : </a:t>
            </a:r>
            <a:r>
              <a:rPr b="0" sz="900">
                <a:solidFill>
                  <a:srgbClr val="0F172A"/>
                </a:solidFill>
                <a:latin typeface="Arial"/>
              </a:rPr>
              <a:t>Domination Google sur « parc de loisirs Yaoundé », « piscine Ahala », « hôtel nature Yaoundé 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987552"/>
            <a:ext cx="5486400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A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987552"/>
            <a:ext cx="5486400" cy="384048"/>
          </a:xfrm>
          <a:prstGeom prst="rect">
            <a:avLst/>
          </a:prstGeom>
          <a:solidFill>
            <a:srgbClr val="5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042416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PILIER 2 • REBRANDING « NEW LOOK » &amp; ONOPRINT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14432" y="1042416"/>
            <a:ext cx="1325880" cy="25603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1060704"/>
            <a:ext cx="1325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Arial"/>
              </a:rPr>
              <a:t>PÔLE BRANDING &amp; 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426464"/>
            <a:ext cx="5257800" cy="2057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Charte « ECOPARK NEW LOOK » : </a:t>
            </a:r>
            <a:r>
              <a:rPr b="0" sz="900">
                <a:solidFill>
                  <a:srgbClr val="0F172A"/>
                </a:solidFill>
                <a:latin typeface="Arial"/>
              </a:rPr>
              <a:t>Harmonisation visuelle des 4 univers (Loisirs/Nature, Hôtellerie Prestige, Gastronomie, Formation CFP).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Supports Officiels Zéro Coquille : </a:t>
            </a:r>
            <a:r>
              <a:rPr b="0" sz="900">
                <a:solidFill>
                  <a:srgbClr val="0F172A"/>
                </a:solidFill>
                <a:latin typeface="Arial"/>
              </a:rPr>
              <a:t>Nouvelle affiche et brochure CFP corrigées, nouvelle carte illustrée du Château des Saveurs en FCFA.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Kits Commerciaux B2B &amp; Plan du Parc : </a:t>
            </a:r>
            <a:r>
              <a:rPr b="0" sz="900">
                <a:solidFill>
                  <a:srgbClr val="0F172A"/>
                </a:solidFill>
                <a:latin typeface="Arial"/>
              </a:rPr>
              <a:t>Brochures PDF et print (atelier Onoprint) pour démarcher Entreprises (Séminaires salle Menkii Essomba Anton), Écoles, ONG et Ministères + Plan illustré du parc.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30752"/>
            <a:ext cx="5486400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30752"/>
            <a:ext cx="54864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785615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PILIER 3 • CONTENUS VIRAUX, DRONE &amp; INFLUENCE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785615"/>
            <a:ext cx="1325880" cy="25603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803904"/>
            <a:ext cx="1325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Arial"/>
              </a:rPr>
              <a:t>PÔLE INFLUENCE &amp; 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169664"/>
            <a:ext cx="5257800" cy="2057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Shooting Photo &amp; Drone à Ahala : </a:t>
            </a:r>
            <a:r>
              <a:rPr b="0" sz="900">
                <a:solidFill>
                  <a:srgbClr val="0F172A"/>
                </a:solidFill>
                <a:latin typeface="Arial"/>
              </a:rPr>
              <a:t>Captation haute définition de la piscine moderne, du gorille ToTo, des balades en pirogue/cheval, des suites de l'Hôtel Ewondo et des plats du restaurant.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Machine Social Media (TikTok, FB, IG) : </a:t>
            </a:r>
            <a:r>
              <a:rPr b="0" sz="900">
                <a:solidFill>
                  <a:srgbClr val="0F172A"/>
                </a:solidFill>
                <a:latin typeface="Arial"/>
              </a:rPr>
              <a:t>Calendrier éditorial propulsé par l'IA, formats Reels/TikTok viraux orientés conversion week-end.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Campagne Influenceurs Yaoundé : </a:t>
            </a:r>
            <a:r>
              <a:rPr b="0" sz="900">
                <a:solidFill>
                  <a:srgbClr val="0F172A"/>
                </a:solidFill>
                <a:latin typeface="Arial"/>
              </a:rPr>
              <a:t>Activation de 5 à 10 créateurs Famille, Lifestyle et Tourisme lors d'une journée VIP « Découverte ECOPARK NEW LOOK 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730752"/>
            <a:ext cx="5486400" cy="2578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82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3730752"/>
            <a:ext cx="5486400" cy="384048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785615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PILIER 4 • CONCIERGE IA WHATSAPP 24/7 &amp;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14432" y="3785615"/>
            <a:ext cx="1325880" cy="25603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4432" y="3803904"/>
            <a:ext cx="1325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50" b="1">
                <a:solidFill>
                  <a:srgbClr val="0F172A"/>
                </a:solidFill>
                <a:latin typeface="Arial"/>
              </a:rPr>
              <a:t>PÔLE IA INSIDE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169664"/>
            <a:ext cx="5257800" cy="2057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Unification des 5 Numéros : </a:t>
            </a:r>
            <a:r>
              <a:rPr b="0" sz="900">
                <a:solidFill>
                  <a:srgbClr val="0F172A"/>
                </a:solidFill>
                <a:latin typeface="Arial"/>
              </a:rPr>
              <a:t>Mise en place d'un Guichet Unique WhatsApp Business relié à un Assistant IA Conversationnel 24/7 entraîné sur 100 % des données d'ECOPARK.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Réponse Instantanée (&lt; 5 secondes) : </a:t>
            </a:r>
            <a:r>
              <a:rPr b="0" sz="900">
                <a:solidFill>
                  <a:srgbClr val="0F172A"/>
                </a:solidFill>
                <a:latin typeface="Arial"/>
              </a:rPr>
              <a:t>Donne les tarifs exacts en FCFA, l'itinéraire depuis la station Tradex Ahala, les horaires des navettes (5, 18, 32 places) et génère les pré-devis groupes.</a:t>
            </a:r>
          </a:p>
          <a:p>
            <a:pPr>
              <a:spcAft>
                <a:spcPts val="500"/>
              </a:spcAft>
            </a:pPr>
            <a:r>
              <a:rPr b="1" sz="900">
                <a:solidFill>
                  <a:srgbClr val="0F172A"/>
                </a:solidFill>
                <a:latin typeface="Arial"/>
              </a:rPr>
              <a:t>• Veille E-Réputation &amp; Formation : </a:t>
            </a:r>
            <a:r>
              <a:rPr b="0" sz="900">
                <a:solidFill>
                  <a:srgbClr val="0F172A"/>
                </a:solidFill>
                <a:latin typeface="Arial"/>
              </a:rPr>
              <a:t>Monitoring des avis Google/Facebook/TikTok et formation pratique de l'équipe interne d'ECOPARK.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9. FEUILLE DE ROUTE SUR 90 JOURS &amp; ACCÉLÉRATION VIA « ANTIGRAVITY SKILLS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III • MÉTHODOLOGIE EN 6 ÉTAPES &amp; INNOVATION IA (-60 % DÉLAIS)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10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87552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87552"/>
            <a:ext cx="1051560" cy="1536192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399032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1
Semaine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07899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0D5C3A"/>
                </a:solidFill>
                <a:latin typeface="Arial"/>
              </a:rPr>
              <a:t>Urgence &amp; Quick Wins (48h)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399032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Correction du lien localhost, suppression du café en dollars sur /restaurant/, réparation de /nos-tarifs/, SEO &lt;title&gt; et affiche CFP.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987552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987552"/>
            <a:ext cx="1051560" cy="1536192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1399032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2
Semaines 2–3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107899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0D5C3A"/>
                </a:solidFill>
                <a:latin typeface="Arial"/>
              </a:rPr>
              <a:t>Charte &amp; 21 Pages Contenus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1399032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Kit graphique « New Look », shooting photo/drone à Ahala et rédaction intégrale des 21 pages vides (Packs, Hôtels, CFP, Histoire).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987552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3" y="987552"/>
            <a:ext cx="1051560" cy="1536192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1399032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3
Semaines 4–6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1078992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0D5C3A"/>
                </a:solidFill>
                <a:latin typeface="Arial"/>
              </a:rPr>
              <a:t>Billetterie &amp; Mobile 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1399032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Mise en ligne du moteur de réservation (Activités, Hôtels Ewondo/Chanthel/Bene, Packs, CFP) avec paiement MTN MoMo / Orange Money.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51760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1051560" cy="1536192"/>
          </a:xfrm>
          <a:prstGeom prst="rect">
            <a:avLst/>
          </a:prstGeom>
          <a:solidFill>
            <a:srgbClr val="5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063240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4
Semaines 6–7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7432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5A1830"/>
                </a:solidFill>
                <a:latin typeface="Arial"/>
              </a:rPr>
              <a:t>Concierge IA WhatsApp 24/7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3063240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Déploiement du Guichet Unique WhatsApp IA unifiant les 5 numéros + génération automatique de devis B2B/Écoles.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9392" y="2651760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2651760"/>
            <a:ext cx="1051560" cy="1536192"/>
          </a:xfrm>
          <a:prstGeom prst="rect">
            <a:avLst/>
          </a:prstGeom>
          <a:solidFill>
            <a:srgbClr val="5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3063240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5
Semaines 8–10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2392" y="27432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5A1830"/>
                </a:solidFill>
                <a:latin typeface="Arial"/>
              </a:rPr>
              <a:t>Campagne &amp; Influenceurs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2392" y="3063240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Lancement média « ECOPARK NEW LOOK », journée VIP influenceurs à Ahala et campagnes sponsorisées Meta/TikTok/Google.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2651760"/>
            <a:ext cx="3621024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1583" y="2651760"/>
            <a:ext cx="1051560" cy="1536192"/>
          </a:xfrm>
          <a:prstGeom prst="rect">
            <a:avLst/>
          </a:prstGeom>
          <a:solidFill>
            <a:srgbClr val="5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4" y="3063240"/>
            <a:ext cx="9601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PHASE 6
Semaines 11–12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27432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19" b="1">
                <a:solidFill>
                  <a:srgbClr val="5A1830"/>
                </a:solidFill>
                <a:latin typeface="Arial"/>
              </a:rPr>
              <a:t>Dashboard ROI &amp; Transfert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3063240"/>
            <a:ext cx="237744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69" b="0">
                <a:solidFill>
                  <a:srgbClr val="0F172A"/>
                </a:solidFill>
                <a:latin typeface="Arial"/>
              </a:rPr>
              <a:t>Tableau de bord temps réel (ventes, trafic, avis) et formation opérationnelle de l'équipe interne d'ECOPARK.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370832"/>
            <a:ext cx="11274552" cy="1965960"/>
          </a:xfrm>
          <a:prstGeom prst="roundRect">
            <a:avLst>
              <a:gd name="adj" fmla="val 4000"/>
            </a:avLst>
          </a:prstGeom>
          <a:solidFill>
            <a:srgbClr val="282C35"/>
          </a:solidFill>
          <a:ln w="1905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443984"/>
            <a:ext cx="10881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7C02F"/>
                </a:solidFill>
                <a:latin typeface="Arial"/>
              </a:rPr>
              <a:t>INNOVATION TECHNOLOGIQUE ONOGRAPH : 5 « SKILLS IA ANTIGRAVITY » DÉJÀ CRÉÉES POUR ECOPARK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754880"/>
            <a:ext cx="10881360" cy="1508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890">
                <a:solidFill>
                  <a:srgbClr val="FFFFFF"/>
                </a:solidFill>
                <a:latin typeface="Arial"/>
              </a:rPr>
              <a:t>• 1. ecopark-context : </a:t>
            </a:r>
            <a:r>
              <a:rPr b="0" sz="890">
                <a:solidFill>
                  <a:srgbClr val="FFFFFF"/>
                </a:solidFill>
                <a:latin typeface="Arial"/>
              </a:rPr>
              <a:t>Encode les 15 activités, tous les tarifs officiels FCFA, les 3 hôtels (Ewondo, Chanthel, Bene) et les 5 filières CFP (zéro erreur de prix).</a:t>
            </a:r>
          </a:p>
          <a:p>
            <a:pPr>
              <a:spcAft>
                <a:spcPts val="500"/>
              </a:spcAft>
            </a:pPr>
            <a:r>
              <a:rPr b="1" sz="890">
                <a:solidFill>
                  <a:srgbClr val="FFFFFF"/>
                </a:solidFill>
                <a:latin typeface="Arial"/>
              </a:rPr>
              <a:t>• 2. ecopark-audit-remediation : </a:t>
            </a:r>
            <a:r>
              <a:rPr b="0" sz="890">
                <a:solidFill>
                  <a:srgbClr val="FFFFFF"/>
                </a:solidFill>
                <a:latin typeface="Arial"/>
              </a:rPr>
              <a:t>Pilote la correction chirurgicale des 21 pages vides et bloque toute publication contenant une coquille ou un bug.</a:t>
            </a:r>
          </a:p>
          <a:p>
            <a:pPr>
              <a:spcAft>
                <a:spcPts val="500"/>
              </a:spcAft>
            </a:pPr>
            <a:r>
              <a:rPr b="1" sz="890">
                <a:solidFill>
                  <a:srgbClr val="FFFFFF"/>
                </a:solidFill>
                <a:latin typeface="Arial"/>
              </a:rPr>
              <a:t>• 3. ecopark-design-system : </a:t>
            </a:r>
            <a:r>
              <a:rPr b="0" sz="890">
                <a:solidFill>
                  <a:srgbClr val="FFFFFF"/>
                </a:solidFill>
                <a:latin typeface="Arial"/>
              </a:rPr>
              <a:t>Garantit une interface « Nature &amp; Prestige » Mobile-First ultra-rapide (&lt; 2s) et lisible en plein soleil sur smartphone.</a:t>
            </a:r>
          </a:p>
          <a:p>
            <a:pPr>
              <a:spcAft>
                <a:spcPts val="500"/>
              </a:spcAft>
            </a:pPr>
            <a:r>
              <a:rPr b="1" sz="890">
                <a:solidFill>
                  <a:srgbClr val="FFFFFF"/>
                </a:solidFill>
                <a:latin typeface="Arial"/>
              </a:rPr>
              <a:t>• 4. ecopark-booking-architecture : </a:t>
            </a:r>
            <a:r>
              <a:rPr b="0" sz="890">
                <a:solidFill>
                  <a:srgbClr val="FFFFFF"/>
                </a:solidFill>
                <a:latin typeface="Arial"/>
              </a:rPr>
              <a:t>Automatise le calcul des paniers (Semaine/Week-end, remise Groupe 10+) et l'intégration MTN MoMo / Orange Money.</a:t>
            </a:r>
          </a:p>
          <a:p>
            <a:pPr>
              <a:spcAft>
                <a:spcPts val="500"/>
              </a:spcAft>
            </a:pPr>
            <a:r>
              <a:rPr b="1" sz="890">
                <a:solidFill>
                  <a:srgbClr val="FFFFFF"/>
                </a:solidFill>
                <a:latin typeface="Arial"/>
              </a:rPr>
              <a:t>• 5. onograph-proposal-engine : </a:t>
            </a:r>
            <a:r>
              <a:rPr b="0" sz="890">
                <a:solidFill>
                  <a:srgbClr val="FFFFFF"/>
                </a:solidFill>
                <a:latin typeface="Arial"/>
              </a:rPr>
              <a:t>Industrialise les reportings mensuels de performance et les campagnes saisonnières du compte ECOPARK.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10. RÉFÉRENTIEL TARIFAIRE OFFICIEL D'ECOPARK (PRÊT À INTÉGRER SUR /NOS-TARIFS/)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ANNEXE OPÉRATIONNELLE • BASE DE DONNÉES TARIFAIRE RECONSTITUÉE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282C35"/>
                </a:solidFill>
                <a:latin typeface="Arial"/>
              </a:rPr>
              <a:t>Slide 11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6112"/>
            <a:ext cx="11274552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80" b="0">
                <a:solidFill>
                  <a:srgbClr val="0F172A"/>
                </a:solidFill>
                <a:latin typeface="Arial"/>
              </a:rPr>
              <a:t>La page /nos-tarifs/ étant cassée, nos analystes ont croisé toutes les sous-pages, affiches et réponses administrateur pour reconstituer la grille officielle qui alimentera la billetterie Mobile Money 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1280160"/>
          <a:ext cx="1127455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02152"/>
                <a:gridCol w="1828800"/>
                <a:gridCol w="1828800"/>
                <a:gridCol w="2286000"/>
              </a:tblGrid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E7C02F"/>
                          </a:solidFill>
                          <a:latin typeface="Arial"/>
                        </a:rPr>
                        <a:t>UNIVERS / PÔLE</a:t>
                      </a:r>
                    </a:p>
                  </a:txBody>
                  <a:tcPr anchor="ctr">
                    <a:solidFill>
                      <a:srgbClr val="282C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E7C02F"/>
                          </a:solidFill>
                          <a:latin typeface="Arial"/>
                        </a:rPr>
                        <a:t>PRESTATION / ESPACE ECOPARK</a:t>
                      </a:r>
                    </a:p>
                  </a:txBody>
                  <a:tcPr anchor="ctr">
                    <a:solidFill>
                      <a:srgbClr val="282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E7C02F"/>
                          </a:solidFill>
                          <a:latin typeface="Arial"/>
                        </a:rPr>
                        <a:t>TARIF ENFANTS</a:t>
                      </a:r>
                    </a:p>
                  </a:txBody>
                  <a:tcPr anchor="ctr">
                    <a:solidFill>
                      <a:srgbClr val="282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E7C02F"/>
                          </a:solidFill>
                          <a:latin typeface="Arial"/>
                        </a:rPr>
                        <a:t>TARIF ADULTES</a:t>
                      </a:r>
                    </a:p>
                  </a:txBody>
                  <a:tcPr anchor="ctr">
                    <a:solidFill>
                      <a:srgbClr val="282C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E7C02F"/>
                          </a:solidFill>
                          <a:latin typeface="Arial"/>
                        </a:rPr>
                        <a:t>TARIF GROUPE (10+) / MODALITÉS</a:t>
                      </a:r>
                    </a:p>
                  </a:txBody>
                  <a:tcPr anchor="ctr">
                    <a:solidFill>
                      <a:srgbClr val="282C35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Nature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Parc Animalier / Zoo (Gorille ToTo, faune)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700 FCFA / pers.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Nature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Espace Piscine Moderne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1 500 FCFA (Sem.) / 2 500 (W-E)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2 500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Forfaits groupes &amp; anniversaires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Nature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Balade en Pirogue (Lacs du parc)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700 FCFA / pers.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Nature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Balade à Cheval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1 000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700 FCFA / pers.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Culture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Balade en Forêt / Musée / Bibliothèque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500 à 700 FCFA / pers.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Sport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Espace Jeux Enfants &amp; Terrains Sport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250 FCFA (&lt; 5 ans)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500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Football, Volley-ball, Manèges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Loisirs &amp; Pêche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Pêche Ludique &amp; Pisciculture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Location canne : 2 000 FCFA | Appât : 500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Hôtellerie (3 Hôtels)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Hôtel EWONDO (4 Suites + 4 Mini-suites)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25 000 – 30 000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Par nuitée (Standing Prestige)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Hôtellerie (3 Hôtels)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Hôtel CHANTHEL (12 Chambres confort)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15 000 – 25 000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Par nuitée (15 000 / 20 000 / 25 000 FCFA)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Hôtellerie (3 Hôtels)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Hôtel BENE (Chambres accessibles)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10 000 – 15 000 FCFA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Par nuitée (Séjour nature économique)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Formation Pro (CFP)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5 Filières DQP/CQP (Hôtellerie, Restauration, Déco, Agropastorale, Pisciculture)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Inscription : 50 000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0F172A"/>
                          </a:solidFill>
                          <a:latin typeface="Arial"/>
                        </a:rPr>
                        <a:t>Scolarité : 250 000 FCFA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F172A"/>
                          </a:solidFill>
                          <a:latin typeface="Arial"/>
                        </a:rPr>
                        <a:t>Payable en 4 tranches + Kits &amp; Assurance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1508760" cy="438912"/>
          </a:xfrm>
          <a:prstGeom prst="roundRect">
            <a:avLst>
              <a:gd name="adj" fmla="val 4000"/>
            </a:avLst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rial"/>
              </a:rPr>
              <a:t>ONOGRAPH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28016"/>
            <a:ext cx="74980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11. PROPOSITION BUDGÉTAIRE ONOGRAPH &amp; PLAN DES 48 PREMIÈRES HEURES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429768"/>
            <a:ext cx="7498079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E7C02F"/>
                </a:solidFill>
                <a:latin typeface="Arial"/>
              </a:rPr>
              <a:t>ACTE IV • INVESTISSEMENT MODULAIRE (FCFA) &amp; PASSAGE À L'ACTION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01168"/>
            <a:ext cx="2084831" cy="36576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1270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237744"/>
            <a:ext cx="20848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50" b="1">
                <a:solidFill>
                  <a:srgbClr val="E7C02F"/>
                </a:solidFill>
                <a:latin typeface="Arial"/>
              </a:rPr>
              <a:t>ECOPARK NEW LOOK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rial"/>
              </a:rPr>
              <a:t>ONOGRAPH SARL — Audit Digital &amp; Offre 360° pour ECOPARK Yaoundé (Ahala)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47104"/>
            <a:ext cx="41148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>
                <a:solidFill>
                  <a:srgbClr val="94A3B8"/>
                </a:solidFill>
                <a:latin typeface="Arial"/>
              </a:rPr>
              <a:t>www.onograph.online | +237 6 70 72 80 87 | info@onograph.online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47104"/>
            <a:ext cx="153619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1">
                <a:solidFill>
                  <a:srgbClr val="E7C02F"/>
                </a:solidFill>
                <a:latin typeface="Arial"/>
              </a:rPr>
              <a:t>Slide 12 /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987552"/>
            <a:ext cx="3621024" cy="406908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987552"/>
            <a:ext cx="3621024" cy="41148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42415"/>
            <a:ext cx="343814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E7C02F"/>
                </a:solidFill>
                <a:latin typeface="Arial"/>
              </a:rPr>
              <a:t>PACK 1 : ESSENTIEL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44752"/>
            <a:ext cx="3438144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80" b="1">
                <a:solidFill>
                  <a:srgbClr val="E7C02F"/>
                </a:solidFill>
                <a:latin typeface="Arial"/>
              </a:rPr>
              <a:t>REMISE À NIVEAU &amp; IDENTITÉ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719072"/>
            <a:ext cx="3438144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775 000 FCFA H.T.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3438144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CBD5E1"/>
                </a:solidFill>
                <a:latin typeface="Arial"/>
              </a:rPr>
              <a:t>(Web Express 400K + Brand Boost 375K)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395728"/>
            <a:ext cx="3364992" cy="2560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Correction des bugs (localhost, SEO, /nos-tarifs/, /restaurant/)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Rédaction &amp; mise en page des 21 pages actuellement vides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Nouvelle affiche officielle CFP &amp; Menu Château des Saveurs en FCFA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Formulaire de réservation propre + redirection WhatsApp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Templates réseaux sociaux livrés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987552"/>
            <a:ext cx="3621024" cy="4069080"/>
          </a:xfrm>
          <a:prstGeom prst="roundRect">
            <a:avLst>
              <a:gd name="adj" fmla="val 4000"/>
            </a:avLst>
          </a:prstGeom>
          <a:solidFill>
            <a:srgbClr val="5A1830"/>
          </a:solidFill>
          <a:ln w="2794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987552"/>
            <a:ext cx="3621024" cy="411480"/>
          </a:xfrm>
          <a:prstGeom prst="rect">
            <a:avLst/>
          </a:prstGeom>
          <a:solidFill>
            <a:srgbClr val="E7C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1" y="1042415"/>
            <a:ext cx="343814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rial"/>
              </a:rPr>
              <a:t>PACK 2 : « ECOPARK NEW LOOK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1444752"/>
            <a:ext cx="3438144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rial"/>
              </a:rPr>
              <a:t>⭐ FORMULE RECOMMANDÉE (ROI MAXIMAL)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1719072"/>
            <a:ext cx="3438144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E7C02F"/>
                </a:solidFill>
                <a:latin typeface="Arial"/>
              </a:rPr>
              <a:t>1 950 000 FCFA H.T.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2103120"/>
            <a:ext cx="3438144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CBD5E1"/>
                </a:solidFill>
                <a:latin typeface="Arial"/>
              </a:rPr>
              <a:t>(Au lieu de 2 275 000 FCFA — Pack Optimisé)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2395728"/>
            <a:ext cx="3364992" cy="2560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Tout le Pack 1 + Refonte complète UX/UI Mobile-First (&lt; 2s)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Moteur de Billetterie &amp; Booking en ligne (MTN MoMo &amp; Orange Money) + Billet QR Code WhatsApp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Charte « New Look » + Plaquettes B2B (Séminaires / Écoles) + Plan illustré du Parc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Kit IA Ready : Concierge IA WhatsApp 24/7 unifiant les 5 numéros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1 Mois de gestion Social Media Start IA inclus (3 posts/semaine)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987552"/>
            <a:ext cx="3621024" cy="4069080"/>
          </a:xfrm>
          <a:prstGeom prst="roundRect">
            <a:avLst>
              <a:gd name="adj" fmla="val 4000"/>
            </a:avLst>
          </a:prstGeom>
          <a:solidFill>
            <a:srgbClr val="2D3340"/>
          </a:solidFill>
          <a:ln w="15240">
            <a:solidFill>
              <a:srgbClr val="0D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3" y="987552"/>
            <a:ext cx="3621024" cy="411480"/>
          </a:xfrm>
          <a:prstGeom prst="rect">
            <a:avLst/>
          </a:prstGeom>
          <a:solidFill>
            <a:srgbClr val="282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3" y="1042415"/>
            <a:ext cx="343814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>
                <a:solidFill>
                  <a:srgbClr val="E7C02F"/>
                </a:solidFill>
                <a:latin typeface="Arial"/>
              </a:rPr>
              <a:t>PACK 3 : PRO 360° &amp; INFLUENCE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1444752"/>
            <a:ext cx="3438144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80" b="1">
                <a:solidFill>
                  <a:srgbClr val="E7C02F"/>
                </a:solidFill>
                <a:latin typeface="Arial"/>
              </a:rPr>
              <a:t>TRANSFORMATION &amp; CROISSANCE TOTALE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3023" y="1719072"/>
            <a:ext cx="3438144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3 200 000 FCFA H.T.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2103120"/>
            <a:ext cx="3438144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19" b="0">
                <a:solidFill>
                  <a:srgbClr val="CBD5E1"/>
                </a:solidFill>
                <a:latin typeface="Arial"/>
              </a:rPr>
              <a:t>(Déploiement 360° complet sur 1 trimestre)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395728"/>
            <a:ext cx="3364992" cy="2560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Tout le Pack 2 + Espace fidélité « Club Ecopark »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Production Audiovisuelle Drone &amp; Terrain complète à Ahala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Impression supports physiques via notre atelier Onoprint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3 Mois de gestion Social Media + Campagne avec 5 à 10 Influenceurs de Yaoundé</a:t>
            </a:r>
          </a:p>
          <a:p>
            <a:pPr>
              <a:spcAft>
                <a:spcPts val="500"/>
              </a:spcAft>
            </a:pPr>
            <a:r>
              <a:rPr sz="890">
                <a:solidFill>
                  <a:srgbClr val="FFFFFF"/>
                </a:solidFill>
                <a:latin typeface="Arial"/>
              </a:rPr>
              <a:t>✅ Dashboard Intelligence &amp; Veille E-Réputation 24/7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93792"/>
            <a:ext cx="11274552" cy="1170432"/>
          </a:xfrm>
          <a:prstGeom prst="roundRect">
            <a:avLst>
              <a:gd name="adj" fmla="val 4000"/>
            </a:avLst>
          </a:prstGeom>
          <a:solidFill>
            <a:srgbClr val="282C35"/>
          </a:solidFill>
          <a:ln w="19050">
            <a:solidFill>
              <a:srgbClr val="E7C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57800"/>
            <a:ext cx="10881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7C02F"/>
                </a:solidFill>
                <a:latin typeface="Arial"/>
              </a:rPr>
              <a:t>RENTABILITÉ IMMÉDIATE (ROI) &amp; DÉMARRAGE SOUS 48 HEURES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559552"/>
            <a:ext cx="10881360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b="1" sz="950">
                <a:solidFill>
                  <a:srgbClr val="FFFFFF"/>
                </a:solidFill>
                <a:latin typeface="Arial"/>
              </a:rPr>
              <a:t>• Seulement 8 inscriptions au CFP (à 250 000 FCFA) ou 65 nuitées à l'Hôtel Ewondo </a:t>
            </a:r>
            <a:r>
              <a:rPr b="0" sz="950">
                <a:solidFill>
                  <a:srgbClr val="FFFFFF"/>
                </a:solidFill>
                <a:latin typeface="Arial"/>
              </a:rPr>
              <a:t>suffisent à rentabiliser 100 % du Pack « ECOPARK NEW LOOK ».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FFFFFF"/>
                </a:solidFill>
                <a:latin typeface="Arial"/>
              </a:rPr>
              <a:t>• Modalités souples ONOGRAPH : </a:t>
            </a:r>
            <a:r>
              <a:rPr b="0" sz="950">
                <a:solidFill>
                  <a:srgbClr val="FFFFFF"/>
                </a:solidFill>
                <a:latin typeface="Arial"/>
              </a:rPr>
              <a:t>Paiement par MTN MoMo, Orange Money, Chèque ou Virement (40 % au démarrage, 40 % à validation billetterie, 20 % à la mise en ligne). Dès votre accord aujourd'hui, nous corrigeons les urgences en 48h chrono.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